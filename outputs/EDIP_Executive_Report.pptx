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Executive Decision Intelligence Briefing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9184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C7D2F0"/>
                </a:solidFill>
              </a:defRPr>
            </a:pPr>
            <a:r>
              <a:t>Q2 2026 Business Review — Generated by EDIP AI Consultant  |  2026-06-01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1B3A"/>
                </a:solidFill>
              </a:defRPr>
            </a:pPr>
            <a:r>
              <a:t>Why Did Revenue Drop in Q2 2026?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2468880" cy="1280160"/>
          </a:xfrm>
          <a:prstGeom prst="rect">
            <a:avLst/>
          </a:prstGeom>
          <a:solidFill>
            <a:srgbClr val="F4F6FB"/>
          </a:solidFill>
          <a:ln w="1270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27000"/>
          <a:lstStyle/>
          <a:p>
            <a:pPr algn="ctr">
              <a:defRPr sz="2400" b="1">
                <a:solidFill>
                  <a:srgbClr val="2E6BE0"/>
                </a:solidFill>
              </a:defRPr>
            </a:pPr>
            <a:r>
              <a:t>$507,785</a:t>
            </a:r>
          </a:p>
          <a:p>
            <a:pPr>
              <a:defRPr sz="1200">
                <a:solidFill>
                  <a:srgbClr val="555B66"/>
                </a:solidFill>
              </a:defRPr>
            </a:pPr>
            <a:r>
              <a:t>Europe Revenue (latest mo.)</a:t>
            </a:r>
          </a:p>
        </p:txBody>
      </p:sp>
      <p:sp>
        <p:nvSpPr>
          <p:cNvPr id="4" name="Rectangle 3"/>
          <p:cNvSpPr/>
          <p:nvPr/>
        </p:nvSpPr>
        <p:spPr>
          <a:xfrm>
            <a:off x="3291840" y="1188720"/>
            <a:ext cx="2468880" cy="1280160"/>
          </a:xfrm>
          <a:prstGeom prst="rect">
            <a:avLst/>
          </a:prstGeom>
          <a:solidFill>
            <a:srgbClr val="F4F6FB"/>
          </a:solidFill>
          <a:ln w="1270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27000"/>
          <a:lstStyle/>
          <a:p>
            <a:pPr algn="ctr">
              <a:defRPr sz="2400" b="1">
                <a:solidFill>
                  <a:srgbClr val="2E6BE0"/>
                </a:solidFill>
              </a:defRPr>
            </a:pPr>
            <a:r>
              <a:t>-15.1%</a:t>
            </a:r>
          </a:p>
          <a:p>
            <a:pPr>
              <a:defRPr sz="1200">
                <a:solidFill>
                  <a:srgbClr val="555B66"/>
                </a:solidFill>
              </a:defRPr>
            </a:pPr>
            <a:r>
              <a:t>Month-over-Month Change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1188720"/>
            <a:ext cx="2468880" cy="1280160"/>
          </a:xfrm>
          <a:prstGeom prst="rect">
            <a:avLst/>
          </a:prstGeom>
          <a:solidFill>
            <a:srgbClr val="F4F6FB"/>
          </a:solidFill>
          <a:ln w="1270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27000"/>
          <a:lstStyle/>
          <a:p>
            <a:pPr algn="ctr">
              <a:defRPr sz="2400" b="1">
                <a:solidFill>
                  <a:srgbClr val="2E6BE0"/>
                </a:solidFill>
              </a:defRPr>
            </a:pPr>
            <a:r>
              <a:t>87.7</a:t>
            </a:r>
          </a:p>
          <a:p>
            <a:pPr>
              <a:defRPr sz="1200">
                <a:solidFill>
                  <a:srgbClr val="555B66"/>
                </a:solidFill>
              </a:defRPr>
            </a:pPr>
            <a:r>
              <a:t>Competitor Price Index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0" y="1188720"/>
            <a:ext cx="2468880" cy="1280160"/>
          </a:xfrm>
          <a:prstGeom prst="rect">
            <a:avLst/>
          </a:prstGeom>
          <a:solidFill>
            <a:srgbClr val="F4F6FB"/>
          </a:solidFill>
          <a:ln w="1270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27000"/>
          <a:lstStyle/>
          <a:p>
            <a:pPr algn="ctr">
              <a:defRPr sz="2400" b="1">
                <a:solidFill>
                  <a:srgbClr val="2E6BE0"/>
                </a:solidFill>
              </a:defRPr>
            </a:pPr>
            <a:r>
              <a:t>High</a:t>
            </a:r>
          </a:p>
          <a:p>
            <a:pPr>
              <a:defRPr sz="1200">
                <a:solidFill>
                  <a:srgbClr val="555B66"/>
                </a:solidFill>
              </a:defRPr>
            </a:pPr>
            <a:r>
              <a:t>Model Confidence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555B66"/>
                </a:solidFill>
              </a:defRPr>
            </a:pPr>
            <a:r>
              <a:t>• Europe revenue declined 15.1% month-over-month. The revenue forecast model attributes this most to: marketing_spend (decreases), month_num (decreases), units_sold_lag1 (decreases). Supporting company documents (annual_report_2025.txt, pricing_policy.txt, q2_2026_board_meeting_notes.txt) indicate this coincides with a Q2 2026 price increase in Kitchen Appliances and Wearables, a competitor price war beginning mid-April 2026, and a supplier capacity shortage at Nordic Supply Co affecting European fulfillment -- three compounding factors identified in board meeting notes.</a:t>
            </a:r>
          </a:p>
          <a:p>
            <a:pPr>
              <a:spcAft>
                <a:spcPts val="1000"/>
              </a:spcAft>
              <a:defRPr sz="1500">
                <a:solidFill>
                  <a:srgbClr val="555B66"/>
                </a:solidFill>
              </a:defRPr>
            </a:pPr>
          </a:p>
          <a:p>
            <a:pPr>
              <a:spcAft>
                <a:spcPts val="1000"/>
              </a:spcAft>
              <a:defRPr sz="1500">
                <a:solidFill>
                  <a:srgbClr val="555B66"/>
                </a:solidFill>
              </a:defRPr>
            </a:pPr>
            <a:r>
              <a:t>Top model-driven factors (SHAP):</a:t>
            </a:r>
          </a:p>
          <a:p>
            <a:pPr>
              <a:spcAft>
                <a:spcPts val="1000"/>
              </a:spcAft>
              <a:defRPr sz="1500">
                <a:solidFill>
                  <a:srgbClr val="555B66"/>
                </a:solidFill>
              </a:defRPr>
            </a:pPr>
            <a:r>
              <a:t>    – marketing_spend: decreases predicted revenue (impact -161794)</a:t>
            </a:r>
          </a:p>
          <a:p>
            <a:pPr>
              <a:spcAft>
                <a:spcPts val="1000"/>
              </a:spcAft>
              <a:defRPr sz="1500">
                <a:solidFill>
                  <a:srgbClr val="555B66"/>
                </a:solidFill>
              </a:defRPr>
            </a:pPr>
            <a:r>
              <a:t>    – month_num: decreases predicted revenue (impact -24212)</a:t>
            </a:r>
          </a:p>
          <a:p>
            <a:pPr>
              <a:spcAft>
                <a:spcPts val="1000"/>
              </a:spcAft>
              <a:defRPr sz="1500">
                <a:solidFill>
                  <a:srgbClr val="555B66"/>
                </a:solidFill>
              </a:defRPr>
            </a:pPr>
            <a:r>
              <a:t>    – units_sold_lag1: decreases predicted revenue (impact -16562)</a:t>
            </a:r>
          </a:p>
          <a:p>
            <a:pPr>
              <a:spcAft>
                <a:spcPts val="1000"/>
              </a:spcAft>
              <a:defRPr sz="1500">
                <a:solidFill>
                  <a:srgbClr val="555B66"/>
                </a:solidFill>
              </a:defRPr>
            </a:pPr>
          </a:p>
          <a:p>
            <a:pPr>
              <a:spcAft>
                <a:spcPts val="1000"/>
              </a:spcAft>
              <a:defRPr sz="1500">
                <a:solidFill>
                  <a:srgbClr val="555B66"/>
                </a:solidFill>
              </a:defRPr>
            </a:pPr>
            <a:r>
              <a:t>Sources: annual_report_2025.txt, pricing_policy.txt, q2_2026_board_meeting_notes.txt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1B3A"/>
                </a:solidFill>
              </a:defRPr>
            </a:pPr>
            <a:r>
              <a:t>Customer Churn Risk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2468880" cy="1280160"/>
          </a:xfrm>
          <a:prstGeom prst="rect">
            <a:avLst/>
          </a:prstGeom>
          <a:solidFill>
            <a:srgbClr val="F4F6FB"/>
          </a:solidFill>
          <a:ln w="1270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27000"/>
          <a:lstStyle/>
          <a:p>
            <a:pPr algn="ctr">
              <a:defRPr sz="2400" b="1">
                <a:solidFill>
                  <a:srgbClr val="2E6BE0"/>
                </a:solidFill>
              </a:defRPr>
            </a:pPr>
            <a:r>
              <a:t>4,000</a:t>
            </a:r>
          </a:p>
          <a:p>
            <a:pPr>
              <a:defRPr sz="1200">
                <a:solidFill>
                  <a:srgbClr val="555B66"/>
                </a:solidFill>
              </a:defRPr>
            </a:pPr>
            <a:r>
              <a:t>Customers Analyzed</a:t>
            </a:r>
          </a:p>
        </p:txBody>
      </p:sp>
      <p:sp>
        <p:nvSpPr>
          <p:cNvPr id="4" name="Rectangle 3"/>
          <p:cNvSpPr/>
          <p:nvPr/>
        </p:nvSpPr>
        <p:spPr>
          <a:xfrm>
            <a:off x="3291840" y="1188720"/>
            <a:ext cx="2468880" cy="1280160"/>
          </a:xfrm>
          <a:prstGeom prst="rect">
            <a:avLst/>
          </a:prstGeom>
          <a:solidFill>
            <a:srgbClr val="F4F6FB"/>
          </a:solidFill>
          <a:ln w="1270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27000"/>
          <a:lstStyle/>
          <a:p>
            <a:pPr algn="ctr">
              <a:defRPr sz="2400" b="1">
                <a:solidFill>
                  <a:srgbClr val="2E6BE0"/>
                </a:solidFill>
              </a:defRPr>
            </a:pPr>
            <a:r>
              <a:t>379</a:t>
            </a:r>
          </a:p>
          <a:p>
            <a:pPr>
              <a:defRPr sz="1200">
                <a:solidFill>
                  <a:srgbClr val="555B66"/>
                </a:solidFill>
              </a:defRPr>
            </a:pPr>
            <a:r>
              <a:t>High Risk (&gt;60%)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1188720"/>
            <a:ext cx="2468880" cy="1280160"/>
          </a:xfrm>
          <a:prstGeom prst="rect">
            <a:avLst/>
          </a:prstGeom>
          <a:solidFill>
            <a:srgbClr val="F4F6FB"/>
          </a:solidFill>
          <a:ln w="1270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27000"/>
          <a:lstStyle/>
          <a:p>
            <a:pPr algn="ctr">
              <a:defRPr sz="2400" b="1">
                <a:solidFill>
                  <a:srgbClr val="2E6BE0"/>
                </a:solidFill>
              </a:defRPr>
            </a:pPr>
            <a:r>
              <a:t>$279,955</a:t>
            </a:r>
          </a:p>
          <a:p>
            <a:pPr>
              <a:defRPr sz="1200">
                <a:solidFill>
                  <a:srgbClr val="555B66"/>
                </a:solidFill>
              </a:defRPr>
            </a:pPr>
            <a:r>
              <a:t>CLV at Risk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0" y="1188720"/>
            <a:ext cx="2468880" cy="1280160"/>
          </a:xfrm>
          <a:prstGeom prst="rect">
            <a:avLst/>
          </a:prstGeom>
          <a:solidFill>
            <a:srgbClr val="F4F6FB"/>
          </a:solidFill>
          <a:ln w="1270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27000"/>
          <a:lstStyle/>
          <a:p>
            <a:pPr algn="ctr">
              <a:defRPr sz="2400" b="1">
                <a:solidFill>
                  <a:srgbClr val="2E6BE0"/>
                </a:solidFill>
              </a:defRPr>
            </a:pPr>
            <a:r>
              <a:t>22.1%</a:t>
            </a:r>
          </a:p>
          <a:p>
            <a:pPr>
              <a:defRPr sz="1200">
                <a:solidFill>
                  <a:srgbClr val="555B66"/>
                </a:solidFill>
              </a:defRPr>
            </a:pPr>
            <a:r>
              <a:t>Avg Churn Prob.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555B66"/>
                </a:solidFill>
              </a:defRPr>
            </a:pPr>
            <a:r>
              <a:t>379 of 4000 customers analyzed are High risk (&gt;60% churn probability), representing an estimated $279,955 of 12-month CLV at risk. The model's SHAP explanations show low satisfaction scores, high support-ticket volume, and short contract terms as the dominant churn drivers -- recommend prioritizing retention outreach to the top-risk accounts listed above.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1B3A"/>
                </a:solidFill>
              </a:defRPr>
            </a:pPr>
            <a:r>
              <a:t>Pricing Strategy Recommendation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2468880" cy="1280160"/>
          </a:xfrm>
          <a:prstGeom prst="rect">
            <a:avLst/>
          </a:prstGeom>
          <a:solidFill>
            <a:srgbClr val="F4F6FB"/>
          </a:solidFill>
          <a:ln w="1270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27000"/>
          <a:lstStyle/>
          <a:p>
            <a:pPr algn="ctr">
              <a:defRPr sz="2400" b="1">
                <a:solidFill>
                  <a:srgbClr val="2E6BE0"/>
                </a:solidFill>
              </a:defRPr>
            </a:pPr>
            <a:r>
              <a:t>Europe</a:t>
            </a:r>
          </a:p>
          <a:p>
            <a:pPr>
              <a:defRPr sz="1200">
                <a:solidFill>
                  <a:srgbClr val="555B66"/>
                </a:solidFill>
              </a:defRPr>
            </a:pPr>
            <a:r>
              <a:t>Region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3291840" y="1188720"/>
            <a:ext cx="2468880" cy="1280160"/>
          </a:xfrm>
          <a:prstGeom prst="rect">
            <a:avLst/>
          </a:prstGeom>
          <a:solidFill>
            <a:srgbClr val="F4F6FB"/>
          </a:solidFill>
          <a:ln w="1270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27000"/>
          <a:lstStyle/>
          <a:p>
            <a:pPr algn="ctr">
              <a:defRPr sz="2400" b="1">
                <a:solidFill>
                  <a:srgbClr val="2E6BE0"/>
                </a:solidFill>
              </a:defRPr>
            </a:pPr>
            <a:r>
              <a:t>$196.01</a:t>
            </a:r>
          </a:p>
          <a:p>
            <a:pPr>
              <a:defRPr sz="1200">
                <a:solidFill>
                  <a:srgbClr val="555B66"/>
                </a:solidFill>
              </a:defRPr>
            </a:pPr>
            <a:r>
              <a:t>Current Avg Price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035040" y="1188720"/>
            <a:ext cx="2468880" cy="1280160"/>
          </a:xfrm>
          <a:prstGeom prst="rect">
            <a:avLst/>
          </a:prstGeom>
          <a:solidFill>
            <a:srgbClr val="F4F6FB"/>
          </a:solidFill>
          <a:ln w="1270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27000"/>
          <a:lstStyle/>
          <a:p>
            <a:pPr algn="ctr">
              <a:defRPr sz="2400" b="1">
                <a:solidFill>
                  <a:srgbClr val="2E6BE0"/>
                </a:solidFill>
              </a:defRPr>
            </a:pPr>
            <a:r>
              <a:t>+15%</a:t>
            </a:r>
          </a:p>
          <a:p>
            <a:pPr>
              <a:defRPr sz="1200">
                <a:solidFill>
                  <a:srgbClr val="555B66"/>
                </a:solidFill>
              </a:defRPr>
            </a:pPr>
            <a:r>
              <a:t>Recommended Change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0" y="1188720"/>
            <a:ext cx="2468880" cy="1280160"/>
          </a:xfrm>
          <a:prstGeom prst="rect">
            <a:avLst/>
          </a:prstGeom>
          <a:solidFill>
            <a:srgbClr val="F4F6FB"/>
          </a:solidFill>
          <a:ln w="12700">
            <a:solidFill>
              <a:srgbClr val="DD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tIns="127000"/>
          <a:lstStyle/>
          <a:p>
            <a:pPr algn="ctr">
              <a:defRPr sz="2400" b="1">
                <a:solidFill>
                  <a:srgbClr val="2E6BE0"/>
                </a:solidFill>
              </a:defRPr>
            </a:pPr>
            <a:r>
              <a:t>$21,560/mo</a:t>
            </a:r>
          </a:p>
          <a:p>
            <a:pPr>
              <a:defRPr sz="1200">
                <a:solidFill>
                  <a:srgbClr val="555B66"/>
                </a:solidFill>
              </a:defRPr>
            </a:pPr>
            <a:r>
              <a:t>Profit Impact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555B66"/>
                </a:solidFill>
              </a:defRPr>
            </a:pPr>
            <a:r>
              <a:t>Given an estimated demand elasticity of -1.3 in Europe (market research flags Europe as more price-sensitive than other regions), the profit-maximizing price change is +15%, yielding an estimated profit of $223,292/month vs $201,732 at the current price.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1B3A"/>
                </a:solidFill>
              </a:defRPr>
            </a:pPr>
            <a:r>
              <a:t>Recommended Actions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555B66"/>
                </a:solidFill>
              </a:defRPr>
            </a:pPr>
            <a:r>
              <a:t>1. Qualify a secondary European supplier to de-risk Nordic Supply Co capacity constraints.  (Owner: VP Supply Chain)</a:t>
            </a:r>
          </a:p>
          <a:p>
            <a:pPr>
              <a:spcAft>
                <a:spcPts val="1000"/>
              </a:spcAft>
              <a:defRPr sz="1500">
                <a:solidFill>
                  <a:srgbClr val="555B66"/>
                </a:solidFill>
              </a:defRPr>
            </a:pPr>
            <a:r>
              <a:t>2. Re-run the Q2 price increase decision for Europe specifically: the profit-optimizing model move is +15% vs. current price, but this must be weighed against the competitive price-war dynamics and elevated European price sensitivity noted below before acting.  (Owner: VP Pricing)</a:t>
            </a:r>
          </a:p>
          <a:p>
            <a:pPr>
              <a:spcAft>
                <a:spcPts val="1000"/>
              </a:spcAft>
              <a:defRPr sz="1500">
                <a:solidFill>
                  <a:srgbClr val="555B66"/>
                </a:solidFill>
              </a:defRPr>
            </a:pPr>
            <a:r>
              <a:t>3. Launch retention outreach to the 92 highest-risk customers (~$69,472 CLV at risk).  (Owner: VP Sales / Customer Success)</a:t>
            </a:r>
          </a:p>
          <a:p>
            <a:pPr>
              <a:spcAft>
                <a:spcPts val="1000"/>
              </a:spcAft>
              <a:defRPr sz="1500">
                <a:solidFill>
                  <a:srgbClr val="555B66"/>
                </a:solidFill>
              </a:defRPr>
            </a:pPr>
            <a:r>
              <a:t>4. Update the FY2026 revenue forecast to reflect the Q2 shortfall and supplier resolution timeline.  (Owner: CFO)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